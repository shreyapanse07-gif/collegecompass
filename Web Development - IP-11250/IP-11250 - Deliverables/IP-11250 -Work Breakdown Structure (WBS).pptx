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66" d="100"/>
          <a:sy n="66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2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 xml:space="preserve">
        <a:bodyPr/>
        <a:lstStyle/>
        <a:p>
          <a:endParaRPr lang="en-GB"/>
        </a:p>
      </dgm:t>
    </dgm:pt>
    <dgm:pt modelId="{7835FD59-B514-0B47-B7B8-0983910456A6}">
      <dgm:prSet phldrT="[Text]" custT="1"/>
      <dgm:spPr/>
      <dgm:t xml:space="preserve">
        <a:bodyPr/>
        <a:lstStyle/>
        <a:p>
          <a:r>
            <a:rPr lang="en-GB" sz="1800" b="1" dirty="0"/>
            <a:t xml:space="preserve">Create an </a:t>
          </a:r>
        </a:p>
        <a:p>
          <a:r>
            <a:rPr lang="en-GB" sz="2400" b="1" dirty="0"/>
            <a:t xml:space="preserve"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 xml:space="preserve"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 xml:space="preserve"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 xml:space="preserve"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 xml:space="preserve"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 xml:space="preserve"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 xml:space="preserve"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 xml:space="preserve"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 xml:space="preserve"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 xml:space="preserve"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 xml:space="preserve"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 xml:space="preserve"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 xml:space="preserve"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 xml:space="preserve"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 xml:space="preserve"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 xml:space="preserve"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 xml:space="preserve"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 xml:space="preserve"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 xml:space="preserve"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 xml:space="preserve"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 xml:space="preserve"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 xml:space="preserve"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 xml:space="preserve"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 xml:space="preserve"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 xml:space="preserve"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 xml:space="preserve"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 xml:space="preserve"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 xml:space="preserve"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 xml:space="preserve"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 xml:space="preserve"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 xml:space="preserve"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 xml:space="preserve"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 xml:space="preserve"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 xml:space="preserve"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 xml:space="preserve"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 xml:space="preserve"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 xml:space="preserve"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 xml:space="preserve"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 xml:space="preserve"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 xml:space="preserve"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 xml:space="preserve"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 xml:space="preserve"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 xml:space="preserve"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 xml:space="preserve"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 xml:space="preserve"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 xml:space="preserve"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 xml:space="preserve"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 xml:space="preserve"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 xml:space="preserve"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 xml:space="preserve"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 xml:space="preserve"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 xml:space="preserve"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 xml:space="preserve"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 xml:space="preserve"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 xml:space="preserve"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 xml:space="preserve"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 xml:space="preserve"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 xml:space="preserve"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 xml:space="preserve"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 xml:space="preserve"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&lt;Task 1&gt;</a:t>
          </a:r>
        </a:p>
      </dgm:t>
    </dgm:pt>
    <dgm:pt modelId="{3C4B69D1-D6CE-7142-B782-AC33E8916659}" type="parTrans" cxnId="{B7123702-C4A0-1F47-95DA-DEE6D88184FD}">
      <dgm:prSet/>
      <dgm:spPr/>
      <dgm:t xml:space="preserve"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 xml:space="preserve"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&lt;Task 2&gt;</a:t>
          </a:r>
        </a:p>
      </dgm:t>
    </dgm:pt>
    <dgm:pt modelId="{6E9D28A9-0202-6B41-9DE6-9B3EADC17B28}" type="parTrans" cxnId="{30EEB2E9-F053-4943-AE18-FF55FCA6725D}">
      <dgm:prSet/>
      <dgm:spPr/>
      <dgm:t xml:space="preserve"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 xml:space="preserve"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&lt;Task 3&gt;</a:t>
          </a:r>
        </a:p>
      </dgm:t>
    </dgm:pt>
    <dgm:pt modelId="{D029E1B0-002C-1E4F-B8C4-E8D784F7075D}" type="parTrans" cxnId="{6547F771-C6A6-9944-81CB-E2324B811C3D}">
      <dgm:prSet/>
      <dgm:spPr/>
      <dgm:t xml:space="preserve"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 xml:space="preserve"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&lt;Task 4&gt;</a:t>
          </a:r>
        </a:p>
      </dgm:t>
    </dgm:pt>
    <dgm:pt modelId="{B404269D-E280-B244-8985-C3EF359E4401}" type="parTrans" cxnId="{3735EE4F-36E3-D844-8F91-FF5D1466090B}">
      <dgm:prSet/>
      <dgm:spPr/>
      <dgm:t xml:space="preserve"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 xml:space="preserve"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 xml:space="preserve"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 xml:space="preserve"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 xml:space="preserve"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 xml:space="preserve"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 xml:space="preserve"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 xml:space="preserve"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 xml:space="preserve"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 xml:space="preserve"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 xml:space="preserve"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1&gt;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2&gt;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3&gt;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4&gt;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54213" y="160000"/>
            <a:ext cx="11937787" cy="900000"/>
          </a:xfrm>
        </p:spPr>
        <p:txBody>
          <a:bodyPr/>
          <a:lstStyle/>
          <a:p>
            <a:r>
              <a:rPr lang="en-US" sz="1800" b="1" dirty="0">
                <a:latin typeface="Calibri"/>
              </a:rPr>
              <a:t>WORK BREAKDOWN STRUCTURE – CollegeCompass – Full Stack Web Development – Shrey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25" y="120000"/>
            <a:ext cx="1218279" cy="750000"/>
          </a:xfrm>
          <a:prstGeom prst="rect">
            <a:avLst/>
          </a:prstGeom>
        </p:spPr>
      </p:pic>
      <p:sp>
        <p:nvSpPr>
          <p:cNvPr id="10" name="Box10"/>
          <p:cNvSpPr/>
          <p:nvPr/>
        </p:nvSpPr>
        <p:spPr>
          <a:xfrm>
            <a:off x="4996000" y="1100000"/>
            <a:ext cx="2200000" cy="3800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800" b="1" dirty="0">
                <a:solidFill>
                  <a:srgbClr val="FFFFFF"/>
                </a:solidFill>
                <a:latin typeface="Calibri"/>
              </a:rPr>
              <a:t>CollegeCompass</a:t>
            </a:r>
          </a:p>
        </p:txBody>
      </p:sp>
      <p:sp>
        <p:nvSpPr>
          <p:cNvPr id="11" name="Box11"/>
          <p:cNvSpPr/>
          <p:nvPr/>
        </p:nvSpPr>
        <p:spPr>
          <a:xfrm>
            <a:off x="159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1. Initiation</a:t>
            </a:r>
          </a:p>
        </p:txBody>
      </p:sp>
      <p:sp>
        <p:nvSpPr>
          <p:cNvPr id="12" name="Box12"/>
          <p:cNvSpPr/>
          <p:nvPr/>
        </p:nvSpPr>
        <p:spPr>
          <a:xfrm>
            <a:off x="1878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2. Planning</a:t>
            </a:r>
          </a:p>
        </p:txBody>
      </p:sp>
      <p:sp>
        <p:nvSpPr>
          <p:cNvPr id="13" name="Box13"/>
          <p:cNvSpPr/>
          <p:nvPr/>
        </p:nvSpPr>
        <p:spPr>
          <a:xfrm>
            <a:off x="3597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3. Design</a:t>
            </a:r>
          </a:p>
        </p:txBody>
      </p:sp>
      <p:sp>
        <p:nvSpPr>
          <p:cNvPr id="14" name="Box14"/>
          <p:cNvSpPr/>
          <p:nvPr/>
        </p:nvSpPr>
        <p:spPr>
          <a:xfrm>
            <a:off x="5316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4. Development</a:t>
            </a:r>
          </a:p>
        </p:txBody>
      </p:sp>
      <p:sp>
        <p:nvSpPr>
          <p:cNvPr id="15" name="Box15"/>
          <p:cNvSpPr/>
          <p:nvPr/>
        </p:nvSpPr>
        <p:spPr>
          <a:xfrm>
            <a:off x="7035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5. Testing</a:t>
            </a:r>
          </a:p>
        </p:txBody>
      </p:sp>
      <p:sp>
        <p:nvSpPr>
          <p:cNvPr id="16" name="Box16"/>
          <p:cNvSpPr/>
          <p:nvPr/>
        </p:nvSpPr>
        <p:spPr>
          <a:xfrm>
            <a:off x="8754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6. Deployment</a:t>
            </a:r>
          </a:p>
        </p:txBody>
      </p:sp>
      <p:sp>
        <p:nvSpPr>
          <p:cNvPr id="17" name="Box17"/>
          <p:cNvSpPr/>
          <p:nvPr/>
        </p:nvSpPr>
        <p:spPr>
          <a:xfrm>
            <a:off x="10473000" y="1620000"/>
            <a:ext cx="1560000" cy="34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80" b="1" dirty="0">
                <a:solidFill>
                  <a:srgbClr val="FFFFFF"/>
                </a:solidFill>
                <a:latin typeface="Calibri"/>
              </a:rPr>
              <a:t>7. Closure</a:t>
            </a:r>
          </a:p>
        </p:txBody>
      </p:sp>
      <p:sp>
        <p:nvSpPr>
          <p:cNvPr id="18" name="Box18"/>
          <p:cNvSpPr/>
          <p:nvPr/>
        </p:nvSpPr>
        <p:spPr>
          <a:xfrm>
            <a:off x="159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Project Charter</a:t>
            </a:r>
          </a:p>
        </p:txBody>
      </p:sp>
      <p:sp>
        <p:nvSpPr>
          <p:cNvPr id="19" name="Box19"/>
          <p:cNvSpPr/>
          <p:nvPr/>
        </p:nvSpPr>
        <p:spPr>
          <a:xfrm>
            <a:off x="929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Req. Elicitation</a:t>
            </a:r>
          </a:p>
        </p:txBody>
      </p:sp>
      <p:sp>
        <p:nvSpPr>
          <p:cNvPr id="20" name="Box20"/>
          <p:cNvSpPr/>
          <p:nvPr/>
        </p:nvSpPr>
        <p:spPr>
          <a:xfrm>
            <a:off x="1878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Project Schedule</a:t>
            </a:r>
          </a:p>
        </p:txBody>
      </p:sp>
      <p:sp>
        <p:nvSpPr>
          <p:cNvPr id="21" name="Box21"/>
          <p:cNvSpPr/>
          <p:nvPr/>
        </p:nvSpPr>
        <p:spPr>
          <a:xfrm>
            <a:off x="2648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RAID Log / WBS</a:t>
            </a:r>
          </a:p>
        </p:txBody>
      </p:sp>
      <p:sp>
        <p:nvSpPr>
          <p:cNvPr id="22" name="Box22"/>
          <p:cNvSpPr/>
          <p:nvPr/>
        </p:nvSpPr>
        <p:spPr>
          <a:xfrm>
            <a:off x="3597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SRS Document</a:t>
            </a:r>
          </a:p>
        </p:txBody>
      </p:sp>
      <p:sp>
        <p:nvSpPr>
          <p:cNvPr id="23" name="Box23"/>
          <p:cNvSpPr/>
          <p:nvPr/>
        </p:nvSpPr>
        <p:spPr>
          <a:xfrm>
            <a:off x="4367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SDS / Wireframes</a:t>
            </a:r>
          </a:p>
        </p:txBody>
      </p:sp>
      <p:sp>
        <p:nvSpPr>
          <p:cNvPr id="24" name="Box24"/>
          <p:cNvSpPr/>
          <p:nvPr/>
        </p:nvSpPr>
        <p:spPr>
          <a:xfrm>
            <a:off x="5316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Database &amp; API</a:t>
            </a:r>
          </a:p>
        </p:txBody>
      </p:sp>
      <p:sp>
        <p:nvSpPr>
          <p:cNvPr id="25" name="Box25"/>
          <p:cNvSpPr/>
          <p:nvPr/>
        </p:nvSpPr>
        <p:spPr>
          <a:xfrm>
            <a:off x="6086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Frontend Pages</a:t>
            </a:r>
          </a:p>
        </p:txBody>
      </p:sp>
      <p:sp>
        <p:nvSpPr>
          <p:cNvPr id="26" name="Box26"/>
          <p:cNvSpPr/>
          <p:nvPr/>
        </p:nvSpPr>
        <p:spPr>
          <a:xfrm>
            <a:off x="7035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Test Plan</a:t>
            </a:r>
          </a:p>
        </p:txBody>
      </p:sp>
      <p:sp>
        <p:nvSpPr>
          <p:cNvPr id="27" name="Box27"/>
          <p:cNvSpPr/>
          <p:nvPr/>
        </p:nvSpPr>
        <p:spPr>
          <a:xfrm>
            <a:off x="7805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Traceability Matrix</a:t>
            </a:r>
          </a:p>
        </p:txBody>
      </p:sp>
      <p:sp>
        <p:nvSpPr>
          <p:cNvPr id="28" name="Box28"/>
          <p:cNvSpPr/>
          <p:nvPr/>
        </p:nvSpPr>
        <p:spPr>
          <a:xfrm>
            <a:off x="8754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Local Deploy</a:t>
            </a:r>
          </a:p>
        </p:txBody>
      </p:sp>
      <p:sp>
        <p:nvSpPr>
          <p:cNvPr id="29" name="Box29"/>
          <p:cNvSpPr/>
          <p:nvPr/>
        </p:nvSpPr>
        <p:spPr>
          <a:xfrm>
            <a:off x="9524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Prod Deploy (Planned)</a:t>
            </a:r>
          </a:p>
        </p:txBody>
      </p:sp>
      <p:sp>
        <p:nvSpPr>
          <p:cNvPr id="30" name="Box30"/>
          <p:cNvSpPr/>
          <p:nvPr/>
        </p:nvSpPr>
        <p:spPr>
          <a:xfrm>
            <a:off x="10473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Project Report</a:t>
            </a:r>
          </a:p>
        </p:txBody>
      </p:sp>
      <p:sp>
        <p:nvSpPr>
          <p:cNvPr id="31" name="Box31"/>
          <p:cNvSpPr/>
          <p:nvPr/>
        </p:nvSpPr>
        <p:spPr>
          <a:xfrm>
            <a:off x="11243000" y="2120000"/>
            <a:ext cx="680000" cy="29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500" b="1" dirty="0">
                <a:solidFill>
                  <a:srgbClr val="FFFFFF"/>
                </a:solidFill>
                <a:latin typeface="Calibri"/>
              </a:rPr>
              <a:t>Lessons Learnt</a:t>
            </a:r>
          </a:p>
        </p:txBody>
      </p:sp>
      <p:sp>
        <p:nvSpPr>
          <p:cNvPr id="32" name="Box32"/>
          <p:cNvSpPr/>
          <p:nvPr/>
        </p:nvSpPr>
        <p:spPr>
          <a:xfrm>
            <a:off x="159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Brief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33" name="Box33"/>
          <p:cNvSpPr/>
          <p:nvPr/>
        </p:nvSpPr>
        <p:spPr>
          <a:xfrm>
            <a:off x="929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Questionnaire</a:t>
            </a:r>
          </a:p>
        </p:txBody>
      </p:sp>
      <p:sp>
        <p:nvSpPr>
          <p:cNvPr id="34" name="Box34"/>
          <p:cNvSpPr/>
          <p:nvPr/>
        </p:nvSpPr>
        <p:spPr>
          <a:xfrm>
            <a:off x="1878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Schedule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Sprints</a:t>
            </a:r>
          </a:p>
        </p:txBody>
      </p:sp>
      <p:sp>
        <p:nvSpPr>
          <p:cNvPr id="35" name="Box35"/>
          <p:cNvSpPr/>
          <p:nvPr/>
        </p:nvSpPr>
        <p:spPr>
          <a:xfrm>
            <a:off x="2648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Risks &amp;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Dependencies</a:t>
            </a:r>
          </a:p>
        </p:txBody>
      </p:sp>
      <p:sp>
        <p:nvSpPr>
          <p:cNvPr id="36" name="Box36"/>
          <p:cNvSpPr/>
          <p:nvPr/>
        </p:nvSpPr>
        <p:spPr>
          <a:xfrm>
            <a:off x="3597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Functional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Reqs</a:t>
            </a:r>
          </a:p>
        </p:txBody>
      </p:sp>
      <p:sp>
        <p:nvSpPr>
          <p:cNvPr id="37" name="Box37"/>
          <p:cNvSpPr/>
          <p:nvPr/>
        </p:nvSpPr>
        <p:spPr>
          <a:xfrm>
            <a:off x="4367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Diagram</a:t>
            </a:r>
          </a:p>
        </p:txBody>
      </p:sp>
      <p:sp>
        <p:nvSpPr>
          <p:cNvPr id="38" name="Box38"/>
          <p:cNvSpPr/>
          <p:nvPr/>
        </p:nvSpPr>
        <p:spPr>
          <a:xfrm>
            <a:off x="5316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MySQL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7 Tables</a:t>
            </a:r>
          </a:p>
        </p:txBody>
      </p:sp>
      <p:sp>
        <p:nvSpPr>
          <p:cNvPr id="39" name="Box39"/>
          <p:cNvSpPr/>
          <p:nvPr/>
        </p:nvSpPr>
        <p:spPr>
          <a:xfrm>
            <a:off x="6016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Node.js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40" name="Box40"/>
          <p:cNvSpPr/>
          <p:nvPr/>
        </p:nvSpPr>
        <p:spPr>
          <a:xfrm>
            <a:off x="6086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HTML/CSS/JS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4 Pages</a:t>
            </a:r>
          </a:p>
        </p:txBody>
      </p:sp>
      <p:sp>
        <p:nvSpPr>
          <p:cNvPr id="41" name="Box41"/>
          <p:cNvSpPr/>
          <p:nvPr/>
        </p:nvSpPr>
        <p:spPr>
          <a:xfrm>
            <a:off x="7035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15 Test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Cases</a:t>
            </a:r>
          </a:p>
        </p:txBody>
      </p:sp>
      <p:sp>
        <p:nvSpPr>
          <p:cNvPr id="42" name="Box42"/>
          <p:cNvSpPr/>
          <p:nvPr/>
        </p:nvSpPr>
        <p:spPr>
          <a:xfrm>
            <a:off x="7805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30 RTM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Entries</a:t>
            </a:r>
          </a:p>
        </p:txBody>
      </p:sp>
      <p:sp>
        <p:nvSpPr>
          <p:cNvPr id="43" name="Box43"/>
          <p:cNvSpPr/>
          <p:nvPr/>
        </p:nvSpPr>
        <p:spPr>
          <a:xfrm>
            <a:off x="8754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localhost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:3000</a:t>
            </a:r>
          </a:p>
        </p:txBody>
      </p:sp>
      <p:sp>
        <p:nvSpPr>
          <p:cNvPr id="44" name="Box44"/>
          <p:cNvSpPr/>
          <p:nvPr/>
        </p:nvSpPr>
        <p:spPr>
          <a:xfrm>
            <a:off x="9524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Railway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+ Netlify</a:t>
            </a:r>
          </a:p>
        </p:txBody>
      </p:sp>
      <p:sp>
        <p:nvSpPr>
          <p:cNvPr id="45" name="Box45"/>
          <p:cNvSpPr/>
          <p:nvPr/>
        </p:nvSpPr>
        <p:spPr>
          <a:xfrm>
            <a:off x="10473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Full Report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Doc</a:t>
            </a:r>
          </a:p>
        </p:txBody>
      </p:sp>
      <p:sp>
        <p:nvSpPr>
          <p:cNvPr id="46" name="Box46"/>
          <p:cNvSpPr/>
          <p:nvPr/>
        </p:nvSpPr>
        <p:spPr>
          <a:xfrm>
            <a:off x="11243000" y="256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15 Lessons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47" name="Box47"/>
          <p:cNvSpPr/>
          <p:nvPr/>
        </p:nvSpPr>
        <p:spPr>
          <a:xfrm>
            <a:off x="159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Project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Charter</a:t>
            </a:r>
          </a:p>
        </p:txBody>
      </p:sp>
      <p:sp>
        <p:nvSpPr>
          <p:cNvPr id="48" name="Box48"/>
          <p:cNvSpPr/>
          <p:nvPr/>
        </p:nvSpPr>
        <p:spPr>
          <a:xfrm>
            <a:off x="879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REQ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Elicitation</a:t>
            </a:r>
          </a:p>
        </p:txBody>
      </p:sp>
      <p:sp>
        <p:nvSpPr>
          <p:cNvPr id="49" name="Box49"/>
          <p:cNvSpPr/>
          <p:nvPr/>
        </p:nvSpPr>
        <p:spPr>
          <a:xfrm>
            <a:off x="1878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Project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50" name="Box50"/>
          <p:cNvSpPr/>
          <p:nvPr/>
        </p:nvSpPr>
        <p:spPr>
          <a:xfrm>
            <a:off x="2598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RAID Log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&amp; WBS</a:t>
            </a:r>
          </a:p>
        </p:txBody>
      </p:sp>
      <p:sp>
        <p:nvSpPr>
          <p:cNvPr id="51" name="Box51"/>
          <p:cNvSpPr/>
          <p:nvPr/>
        </p:nvSpPr>
        <p:spPr>
          <a:xfrm>
            <a:off x="3597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SRS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Doc</a:t>
            </a:r>
          </a:p>
        </p:txBody>
      </p:sp>
      <p:sp>
        <p:nvSpPr>
          <p:cNvPr id="52" name="Box52"/>
          <p:cNvSpPr/>
          <p:nvPr/>
        </p:nvSpPr>
        <p:spPr>
          <a:xfrm>
            <a:off x="4317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SDS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Doc</a:t>
            </a:r>
          </a:p>
        </p:txBody>
      </p:sp>
      <p:sp>
        <p:nvSpPr>
          <p:cNvPr id="53" name="Box53"/>
          <p:cNvSpPr/>
          <p:nvPr/>
        </p:nvSpPr>
        <p:spPr>
          <a:xfrm>
            <a:off x="5316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455 Colleges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DB + API</a:t>
            </a:r>
          </a:p>
        </p:txBody>
      </p:sp>
      <p:sp>
        <p:nvSpPr>
          <p:cNvPr id="54" name="Box54"/>
          <p:cNvSpPr/>
          <p:nvPr/>
        </p:nvSpPr>
        <p:spPr>
          <a:xfrm>
            <a:off x="6036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4 HTML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Pages</a:t>
            </a:r>
          </a:p>
        </p:txBody>
      </p:sp>
      <p:sp>
        <p:nvSpPr>
          <p:cNvPr id="55" name="Box55"/>
          <p:cNvSpPr/>
          <p:nvPr/>
        </p:nvSpPr>
        <p:spPr>
          <a:xfrm>
            <a:off x="7035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Test Plan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Doc</a:t>
            </a:r>
          </a:p>
        </p:txBody>
      </p:sp>
      <p:sp>
        <p:nvSpPr>
          <p:cNvPr id="56" name="Box56"/>
          <p:cNvSpPr/>
          <p:nvPr/>
        </p:nvSpPr>
        <p:spPr>
          <a:xfrm>
            <a:off x="7755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Traceability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Matrix</a:t>
            </a:r>
          </a:p>
        </p:txBody>
      </p:sp>
      <p:sp>
        <p:nvSpPr>
          <p:cNvPr id="57" name="Box57"/>
          <p:cNvSpPr/>
          <p:nvPr/>
        </p:nvSpPr>
        <p:spPr>
          <a:xfrm>
            <a:off x="8754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Running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App Local</a:t>
            </a:r>
          </a:p>
        </p:txBody>
      </p:sp>
      <p:sp>
        <p:nvSpPr>
          <p:cNvPr id="58" name="Box58"/>
          <p:cNvSpPr/>
          <p:nvPr/>
        </p:nvSpPr>
        <p:spPr>
          <a:xfrm>
            <a:off x="9474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Deployment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Guide</a:t>
            </a:r>
          </a:p>
        </p:txBody>
      </p:sp>
      <p:sp>
        <p:nvSpPr>
          <p:cNvPr id="59" name="Box59"/>
          <p:cNvSpPr/>
          <p:nvPr/>
        </p:nvSpPr>
        <p:spPr>
          <a:xfrm>
            <a:off x="10473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Project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60" name="Box60"/>
          <p:cNvSpPr/>
          <p:nvPr/>
        </p:nvSpPr>
        <p:spPr>
          <a:xfrm>
            <a:off x="11193000" y="3000000"/>
            <a:ext cx="680000" cy="26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Lessons</a:t>
            </a:r>
          </a:p>
          <a:p>
            <a:r>
              <a:rPr lang="en-US" sz="430" b="0" dirty="0">
                <a:solidFill>
                  <a:srgbClr val="FFFFFF"/>
                </a:solidFill>
                <a:latin typeface="Calibri"/>
              </a:rPr>
              <a:t>Learnt Log</a:t>
            </a:r>
          </a:p>
        </p:txBody>
      </p:sp>
      <p:sp>
        <p:nvSpPr>
          <p:cNvPr id="61" name="Box61"/>
          <p:cNvSpPr/>
          <p:nvPr/>
        </p:nvSpPr>
        <p:spPr>
          <a:xfrm>
            <a:off x="300000" y="3450000"/>
            <a:ext cx="700000" cy="2200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50" b="0" dirty="0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62" name="Box62"/>
          <p:cNvSpPr/>
          <p:nvPr/>
        </p:nvSpPr>
        <p:spPr>
          <a:xfrm>
            <a:off x="1080000" y="3450000"/>
            <a:ext cx="700000" cy="220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50" b="0" dirty="0">
                <a:solidFill>
                  <a:srgbClr val="FFFFFF"/>
                </a:solidFill>
                <a:latin typeface="Calibri"/>
              </a:rPr>
              <a:t>Phases</a:t>
            </a:r>
          </a:p>
        </p:txBody>
      </p:sp>
      <p:sp>
        <p:nvSpPr>
          <p:cNvPr id="63" name="Box63"/>
          <p:cNvSpPr/>
          <p:nvPr/>
        </p:nvSpPr>
        <p:spPr>
          <a:xfrm>
            <a:off x="1860000" y="3450000"/>
            <a:ext cx="700000" cy="22000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50" b="0" dirty="0">
                <a:solidFill>
                  <a:srgbClr val="FFFFFF"/>
                </a:solidFill>
                <a:latin typeface="Calibri"/>
              </a:rPr>
              <a:t>Activities</a:t>
            </a:r>
          </a:p>
        </p:txBody>
      </p:sp>
      <p:sp>
        <p:nvSpPr>
          <p:cNvPr id="64" name="Box64"/>
          <p:cNvSpPr/>
          <p:nvPr/>
        </p:nvSpPr>
        <p:spPr>
          <a:xfrm>
            <a:off x="2640000" y="3450000"/>
            <a:ext cx="700000" cy="220000"/>
          </a:xfrm>
          <a:prstGeom prst="roundRect">
            <a:avLst>
              <a:gd name="adj" fmla="val 16667"/>
            </a:avLst>
          </a:prstGeom>
          <a:solidFill>
            <a:srgbClr val="533483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50" b="0" dirty="0">
                <a:solidFill>
                  <a:srgbClr val="FFFFFF"/>
                </a:solidFill>
                <a:latin typeface="Calibri"/>
              </a:rPr>
              <a:t>Tasks</a:t>
            </a:r>
          </a:p>
        </p:txBody>
      </p:sp>
      <p:sp>
        <p:nvSpPr>
          <p:cNvPr id="65" name="Box65"/>
          <p:cNvSpPr/>
          <p:nvPr/>
        </p:nvSpPr>
        <p:spPr>
          <a:xfrm>
            <a:off x="3420000" y="3450000"/>
            <a:ext cx="700000" cy="2200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50" b="0" dirty="0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255</Words>
  <Application>Microsoft Office PowerPoint</Application>
  <PresentationFormat>Widescreen</PresentationFormat>
  <Paragraphs>51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Using The  WORK BREAKDOWN STRUCTURE  Sheet</vt:lpstr>
      <vt:lpstr>WORK BREAKDOWN STRUCTURE –  IP23 Live Project Deliverables–  ‘Software Development’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Suraj Mane</cp:lastModifiedBy>
  <cp:revision>241</cp:revision>
  <dcterms:created xsi:type="dcterms:W3CDTF">2023-07-15T03:43:48Z</dcterms:created>
  <dcterms:modified xsi:type="dcterms:W3CDTF">2025-11-17T11:29:53Z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